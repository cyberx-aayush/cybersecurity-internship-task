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34587" autoAdjust="0"/>
    <p:restoredTop sz="94674" autoAdjust="0"/>
  </p:normalViewPr>
  <p:slideViewPr>
    <p:cSldViewPr snapToGrid="0" snapToObjects="1">
      <p:cViewPr>
        <p:scale>
          <a:sx n="117" d="100"/>
          <a:sy n="117" d="100"/>
        </p:scale>
        <p:origin x="-1464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736" y="1191985"/>
            <a:ext cx="8229600" cy="1143000"/>
          </a:xfrm>
        </p:spPr>
        <p:txBody>
          <a:bodyPr>
            <a:normAutofit fontScale="90000"/>
          </a:bodyPr>
          <a:lstStyle/>
          <a:p>
            <a:r>
              <a:rPr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Cybersecurity</a:t>
            </a:r>
            <a:r>
              <a:rPr dirty="0"/>
              <a:t> </a:t>
            </a:r>
            <a:r>
              <a:rPr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Threat</a:t>
            </a:r>
            <a:r>
              <a:rPr dirty="0"/>
              <a:t> </a:t>
            </a:r>
            <a:r>
              <a:rPr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Intelligence</a:t>
            </a:r>
            <a:r>
              <a:rPr dirty="0"/>
              <a:t> </a:t>
            </a:r>
            <a:r>
              <a:rPr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14550" y="2669720"/>
            <a:ext cx="5233308" cy="3249386"/>
          </a:xfrm>
        </p:spPr>
        <p:txBody>
          <a:bodyPr>
            <a:normAutofit lnSpcReduction="10000"/>
          </a:bodyPr>
          <a:lstStyle/>
          <a:p>
            <a:r>
              <a:rPr dirty="0" err="1">
                <a:latin typeface="Pristina" panose="03060402040406080204" pitchFamily="66" charset="0"/>
              </a:rPr>
              <a:t>Aayush</a:t>
            </a:r>
            <a:r>
              <a:rPr dirty="0">
                <a:latin typeface="Pristina" panose="03060402040406080204" pitchFamily="66" charset="0"/>
              </a:rPr>
              <a:t> Kumar </a:t>
            </a:r>
            <a:r>
              <a:rPr dirty="0" err="1" smtClean="0">
                <a:latin typeface="Pristina" panose="03060402040406080204" pitchFamily="66" charset="0"/>
              </a:rPr>
              <a:t>Ranjan</a:t>
            </a:r>
            <a:endParaRPr lang="en-US" dirty="0" smtClean="0">
              <a:latin typeface="Pristina" panose="03060402040406080204" pitchFamily="66" charset="0"/>
            </a:endParaRPr>
          </a:p>
          <a:p>
            <a:endParaRPr dirty="0">
              <a:latin typeface="Pristina" panose="03060402040406080204" pitchFamily="66" charset="0"/>
            </a:endParaRPr>
          </a:p>
          <a:p>
            <a:r>
              <a:rPr dirty="0">
                <a:latin typeface="Pristina" panose="03060402040406080204" pitchFamily="66" charset="0"/>
              </a:rPr>
              <a:t>Cyber Security &amp; Ethical </a:t>
            </a:r>
            <a:r>
              <a:rPr dirty="0" smtClean="0">
                <a:latin typeface="Pristina" panose="03060402040406080204" pitchFamily="66" charset="0"/>
              </a:rPr>
              <a:t>Hacking</a:t>
            </a:r>
            <a:endParaRPr lang="en-US" dirty="0" smtClean="0">
              <a:latin typeface="Pristina" panose="03060402040406080204" pitchFamily="66" charset="0"/>
            </a:endParaRPr>
          </a:p>
          <a:p>
            <a:endParaRPr dirty="0">
              <a:latin typeface="Pristina" panose="03060402040406080204" pitchFamily="66" charset="0"/>
            </a:endParaRPr>
          </a:p>
          <a:p>
            <a:r>
              <a:rPr dirty="0" err="1">
                <a:latin typeface="Pristina" panose="03060402040406080204" pitchFamily="66" charset="0"/>
              </a:rPr>
              <a:t>Maincrafts</a:t>
            </a:r>
            <a:r>
              <a:rPr dirty="0">
                <a:latin typeface="Pristina" panose="03060402040406080204" pitchFamily="66" charset="0"/>
              </a:rPr>
              <a:t> </a:t>
            </a:r>
            <a:r>
              <a:rPr dirty="0" smtClean="0">
                <a:latin typeface="Pristina" panose="03060402040406080204" pitchFamily="66" charset="0"/>
              </a:rPr>
              <a:t>Technology</a:t>
            </a:r>
            <a:endParaRPr lang="en-US" dirty="0" smtClean="0">
              <a:latin typeface="Pristina" panose="03060402040406080204" pitchFamily="66" charset="0"/>
            </a:endParaRPr>
          </a:p>
          <a:p>
            <a:endParaRPr dirty="0">
              <a:latin typeface="Pristina" panose="03060402040406080204" pitchFamily="66" charset="0"/>
            </a:endParaRPr>
          </a:p>
          <a:p>
            <a:r>
              <a:rPr dirty="0">
                <a:latin typeface="Pristina" panose="03060402040406080204" pitchFamily="66" charset="0"/>
              </a:rPr>
              <a:t>April 2026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Introduction</a:t>
            </a:r>
            <a:r>
              <a:rPr dirty="0"/>
              <a:t> </a:t>
            </a:r>
            <a:r>
              <a:rPr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</a:t>
            </a:r>
            <a:r>
              <a:rPr dirty="0"/>
              <a:t> </a:t>
            </a:r>
            <a:r>
              <a:rPr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Cybersecurity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6476" y="2473778"/>
            <a:ext cx="7698921" cy="4256542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 smtClean="0">
                <a:latin typeface="Monotype Corsiva" panose="03010101010201010101" pitchFamily="66" charset="0"/>
              </a:rPr>
              <a:t>Protects systems, networks, and data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dirty="0" smtClean="0">
              <a:latin typeface="Monotype Corsiva" panose="03010101010201010101" pitchFamily="66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dirty="0" smtClean="0">
                <a:latin typeface="Monotype Corsiva" panose="03010101010201010101" pitchFamily="66" charset="0"/>
              </a:rPr>
              <a:t>Increasing cyber threats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dirty="0" smtClean="0">
              <a:latin typeface="Monotype Corsiva" panose="03010101010201010101" pitchFamily="66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dirty="0" smtClean="0">
                <a:latin typeface="Monotype Corsiva" panose="03010101010201010101" pitchFamily="66" charset="0"/>
              </a:rPr>
              <a:t>Important for individuals &amp; businesses</a:t>
            </a:r>
            <a:endParaRPr lang="en-US" dirty="0">
              <a:latin typeface="Monotype Corsiva" panose="03010101010201010101" pitchFamily="66" charset="0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849085" y="1934935"/>
            <a:ext cx="690698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AI-Powered</a:t>
            </a:r>
            <a:r>
              <a:rPr dirty="0"/>
              <a:t> </a:t>
            </a:r>
            <a:r>
              <a:rPr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Phishing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9957" y="2343694"/>
            <a:ext cx="8229600" cy="4389120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 smtClean="0">
                <a:latin typeface="Monotype Corsiva" panose="03010101010201010101" pitchFamily="66" charset="0"/>
              </a:rPr>
              <a:t> </a:t>
            </a:r>
            <a:r>
              <a:rPr dirty="0" smtClean="0">
                <a:latin typeface="Monotype Corsiva" panose="03010101010201010101" pitchFamily="66" charset="0"/>
              </a:rPr>
              <a:t>Uses </a:t>
            </a:r>
            <a:r>
              <a:rPr dirty="0">
                <a:latin typeface="Monotype Corsiva" panose="03010101010201010101" pitchFamily="66" charset="0"/>
              </a:rPr>
              <a:t>AI for realistic </a:t>
            </a:r>
            <a:r>
              <a:rPr dirty="0" smtClean="0">
                <a:latin typeface="Monotype Corsiva" panose="03010101010201010101" pitchFamily="66" charset="0"/>
              </a:rPr>
              <a:t>scams</a:t>
            </a:r>
            <a:endParaRPr lang="en-US" dirty="0" smtClean="0">
              <a:latin typeface="Monotype Corsiva" panose="03010101010201010101" pitchFamily="66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dirty="0">
              <a:latin typeface="Monotype Corsiva" panose="03010101010201010101" pitchFamily="66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>
                <a:latin typeface="Monotype Corsiva" panose="03010101010201010101" pitchFamily="66" charset="0"/>
              </a:rPr>
              <a:t> </a:t>
            </a:r>
            <a:r>
              <a:rPr dirty="0" smtClean="0">
                <a:latin typeface="Monotype Corsiva" panose="03010101010201010101" pitchFamily="66" charset="0"/>
              </a:rPr>
              <a:t>Impact</a:t>
            </a:r>
            <a:r>
              <a:rPr dirty="0">
                <a:latin typeface="Monotype Corsiva" panose="03010101010201010101" pitchFamily="66" charset="0"/>
              </a:rPr>
              <a:t>: Fraud, data </a:t>
            </a:r>
            <a:r>
              <a:rPr dirty="0" smtClean="0">
                <a:latin typeface="Monotype Corsiva" panose="03010101010201010101" pitchFamily="66" charset="0"/>
              </a:rPr>
              <a:t>theft</a:t>
            </a:r>
            <a:endParaRPr lang="en-US" dirty="0" smtClean="0">
              <a:latin typeface="Monotype Corsiva" panose="03010101010201010101" pitchFamily="66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dirty="0">
              <a:latin typeface="Monotype Corsiva" panose="03010101010201010101" pitchFamily="66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>
                <a:latin typeface="Monotype Corsiva" panose="03010101010201010101" pitchFamily="66" charset="0"/>
              </a:rPr>
              <a:t> </a:t>
            </a:r>
            <a:r>
              <a:rPr dirty="0" smtClean="0">
                <a:latin typeface="Monotype Corsiva" panose="03010101010201010101" pitchFamily="66" charset="0"/>
              </a:rPr>
              <a:t>Prevention</a:t>
            </a:r>
            <a:r>
              <a:rPr dirty="0">
                <a:latin typeface="Monotype Corsiva" panose="03010101010201010101" pitchFamily="66" charset="0"/>
              </a:rPr>
              <a:t>: MFA, awareness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Ransomware-as-a-Service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5657" y="2163535"/>
            <a:ext cx="6441622" cy="4340679"/>
          </a:xfrm>
        </p:spPr>
        <p:txBody>
          <a:bodyPr/>
          <a:lstStyle/>
          <a:p>
            <a:r>
              <a:rPr dirty="0">
                <a:latin typeface="Monotype Corsiva" panose="03010101010201010101" pitchFamily="66" charset="0"/>
              </a:rPr>
              <a:t>Ransomware tools for </a:t>
            </a:r>
            <a:r>
              <a:rPr dirty="0" smtClean="0">
                <a:latin typeface="Monotype Corsiva" panose="03010101010201010101" pitchFamily="66" charset="0"/>
              </a:rPr>
              <a:t>criminals</a:t>
            </a:r>
            <a:endParaRPr lang="en-US" dirty="0" smtClean="0">
              <a:latin typeface="Monotype Corsiva" panose="03010101010201010101" pitchFamily="66" charset="0"/>
            </a:endParaRPr>
          </a:p>
          <a:p>
            <a:endParaRPr dirty="0">
              <a:latin typeface="Monotype Corsiva" panose="03010101010201010101" pitchFamily="66" charset="0"/>
            </a:endParaRPr>
          </a:p>
          <a:p>
            <a:r>
              <a:rPr dirty="0">
                <a:latin typeface="Monotype Corsiva" panose="03010101010201010101" pitchFamily="66" charset="0"/>
              </a:rPr>
              <a:t>Impact: Data loss, </a:t>
            </a:r>
            <a:r>
              <a:rPr dirty="0" smtClean="0">
                <a:latin typeface="Monotype Corsiva" panose="03010101010201010101" pitchFamily="66" charset="0"/>
              </a:rPr>
              <a:t>downtime</a:t>
            </a:r>
            <a:endParaRPr lang="en-US" dirty="0" smtClean="0">
              <a:latin typeface="Monotype Corsiva" panose="03010101010201010101" pitchFamily="66" charset="0"/>
            </a:endParaRPr>
          </a:p>
          <a:p>
            <a:endParaRPr dirty="0">
              <a:latin typeface="Monotype Corsiva" panose="03010101010201010101" pitchFamily="66" charset="0"/>
            </a:endParaRPr>
          </a:p>
          <a:p>
            <a:r>
              <a:rPr dirty="0">
                <a:latin typeface="Monotype Corsiva" panose="03010101010201010101" pitchFamily="66" charset="0"/>
              </a:rPr>
              <a:t>Prevention: Backup, updates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Cloud</a:t>
            </a:r>
            <a:r>
              <a:rPr dirty="0"/>
              <a:t> </a:t>
            </a:r>
            <a:r>
              <a:rPr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Misconfiguration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40972" y="2335530"/>
            <a:ext cx="8229600" cy="4389120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 smtClean="0">
                <a:latin typeface="Monotype Corsiva" panose="03010101010201010101" pitchFamily="66" charset="0"/>
              </a:rPr>
              <a:t> </a:t>
            </a:r>
            <a:r>
              <a:rPr dirty="0" smtClean="0">
                <a:latin typeface="Monotype Corsiva" panose="03010101010201010101" pitchFamily="66" charset="0"/>
              </a:rPr>
              <a:t>Wrong </a:t>
            </a:r>
            <a:r>
              <a:rPr dirty="0">
                <a:latin typeface="Monotype Corsiva" panose="03010101010201010101" pitchFamily="66" charset="0"/>
              </a:rPr>
              <a:t>cloud </a:t>
            </a:r>
            <a:r>
              <a:rPr dirty="0" smtClean="0">
                <a:latin typeface="Monotype Corsiva" panose="03010101010201010101" pitchFamily="66" charset="0"/>
              </a:rPr>
              <a:t>settings</a:t>
            </a:r>
            <a:endParaRPr lang="en-US" dirty="0" smtClean="0">
              <a:latin typeface="Monotype Corsiva" panose="03010101010201010101" pitchFamily="66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dirty="0">
              <a:latin typeface="Monotype Corsiva" panose="03010101010201010101" pitchFamily="66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>
                <a:latin typeface="Monotype Corsiva" panose="03010101010201010101" pitchFamily="66" charset="0"/>
              </a:rPr>
              <a:t> </a:t>
            </a:r>
            <a:r>
              <a:rPr dirty="0" smtClean="0">
                <a:latin typeface="Monotype Corsiva" panose="03010101010201010101" pitchFamily="66" charset="0"/>
              </a:rPr>
              <a:t>Impact</a:t>
            </a:r>
            <a:r>
              <a:rPr dirty="0">
                <a:latin typeface="Monotype Corsiva" panose="03010101010201010101" pitchFamily="66" charset="0"/>
              </a:rPr>
              <a:t>: Data </a:t>
            </a:r>
            <a:r>
              <a:rPr dirty="0" smtClean="0">
                <a:latin typeface="Monotype Corsiva" panose="03010101010201010101" pitchFamily="66" charset="0"/>
              </a:rPr>
              <a:t>leaks</a:t>
            </a:r>
            <a:endParaRPr lang="en-US" dirty="0" smtClean="0">
              <a:latin typeface="Monotype Corsiva" panose="03010101010201010101" pitchFamily="66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dirty="0">
              <a:latin typeface="Monotype Corsiva" panose="03010101010201010101" pitchFamily="66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>
                <a:latin typeface="Monotype Corsiva" panose="03010101010201010101" pitchFamily="66" charset="0"/>
              </a:rPr>
              <a:t> </a:t>
            </a:r>
            <a:r>
              <a:rPr dirty="0" smtClean="0">
                <a:latin typeface="Monotype Corsiva" panose="03010101010201010101" pitchFamily="66" charset="0"/>
              </a:rPr>
              <a:t>Prevention</a:t>
            </a:r>
            <a:r>
              <a:rPr dirty="0">
                <a:latin typeface="Monotype Corsiva" panose="03010101010201010101" pitchFamily="66" charset="0"/>
              </a:rPr>
              <a:t>: Access control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LOT</a:t>
            </a:r>
            <a:r>
              <a:rPr dirty="0" smtClean="0"/>
              <a:t> </a:t>
            </a:r>
            <a:r>
              <a:rPr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Vulnerabilities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1793" y="2229394"/>
            <a:ext cx="8229600" cy="4389120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 smtClean="0">
                <a:latin typeface="Monotype Corsiva" panose="03010101010201010101" pitchFamily="66" charset="0"/>
              </a:rPr>
              <a:t> </a:t>
            </a:r>
            <a:r>
              <a:rPr dirty="0" smtClean="0">
                <a:latin typeface="Monotype Corsiva" panose="03010101010201010101" pitchFamily="66" charset="0"/>
              </a:rPr>
              <a:t>Weak </a:t>
            </a:r>
            <a:r>
              <a:rPr dirty="0">
                <a:latin typeface="Monotype Corsiva" panose="03010101010201010101" pitchFamily="66" charset="0"/>
              </a:rPr>
              <a:t>security in smart </a:t>
            </a:r>
            <a:r>
              <a:rPr dirty="0" smtClean="0">
                <a:latin typeface="Monotype Corsiva" panose="03010101010201010101" pitchFamily="66" charset="0"/>
              </a:rPr>
              <a:t>devices</a:t>
            </a:r>
            <a:endParaRPr lang="en-US" dirty="0" smtClean="0">
              <a:latin typeface="Monotype Corsiva" panose="03010101010201010101" pitchFamily="66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dirty="0">
              <a:latin typeface="Monotype Corsiva" panose="03010101010201010101" pitchFamily="66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>
                <a:latin typeface="Monotype Corsiva" panose="03010101010201010101" pitchFamily="66" charset="0"/>
              </a:rPr>
              <a:t> </a:t>
            </a:r>
            <a:r>
              <a:rPr dirty="0" smtClean="0">
                <a:latin typeface="Monotype Corsiva" panose="03010101010201010101" pitchFamily="66" charset="0"/>
              </a:rPr>
              <a:t>Impact: Privacy risks</a:t>
            </a:r>
            <a:endParaRPr lang="en-US" dirty="0" smtClean="0">
              <a:latin typeface="Monotype Corsiva" panose="03010101010201010101" pitchFamily="66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dirty="0">
              <a:latin typeface="Monotype Corsiva" panose="03010101010201010101" pitchFamily="66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>
                <a:latin typeface="Monotype Corsiva" panose="03010101010201010101" pitchFamily="66" charset="0"/>
              </a:rPr>
              <a:t> </a:t>
            </a:r>
            <a:r>
              <a:rPr dirty="0" smtClean="0">
                <a:latin typeface="Monotype Corsiva" panose="03010101010201010101" pitchFamily="66" charset="0"/>
              </a:rPr>
              <a:t>Prevention</a:t>
            </a:r>
            <a:r>
              <a:rPr dirty="0">
                <a:latin typeface="Monotype Corsiva" panose="03010101010201010101" pitchFamily="66" charset="0"/>
              </a:rPr>
              <a:t>: Updates, passwords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Zero-Day</a:t>
            </a:r>
            <a:r>
              <a:rPr dirty="0"/>
              <a:t> </a:t>
            </a:r>
            <a:r>
              <a:rPr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Exploits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06285" y="2286544"/>
            <a:ext cx="8229600" cy="4389120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 smtClean="0">
                <a:latin typeface="Monotype Corsiva" panose="03010101010201010101" pitchFamily="66" charset="0"/>
              </a:rPr>
              <a:t> </a:t>
            </a:r>
            <a:r>
              <a:rPr dirty="0" smtClean="0">
                <a:latin typeface="Monotype Corsiva" panose="03010101010201010101" pitchFamily="66" charset="0"/>
              </a:rPr>
              <a:t>Unknown vulnerabilities</a:t>
            </a:r>
            <a:endParaRPr lang="en-US" dirty="0" smtClean="0">
              <a:latin typeface="Monotype Corsiva" panose="03010101010201010101" pitchFamily="66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dirty="0">
              <a:latin typeface="Monotype Corsiva" panose="03010101010201010101" pitchFamily="66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>
                <a:latin typeface="Monotype Corsiva" panose="03010101010201010101" pitchFamily="66" charset="0"/>
              </a:rPr>
              <a:t> </a:t>
            </a:r>
            <a:r>
              <a:rPr dirty="0" smtClean="0">
                <a:latin typeface="Monotype Corsiva" panose="03010101010201010101" pitchFamily="66" charset="0"/>
              </a:rPr>
              <a:t>Impact</a:t>
            </a:r>
            <a:r>
              <a:rPr dirty="0">
                <a:latin typeface="Monotype Corsiva" panose="03010101010201010101" pitchFamily="66" charset="0"/>
              </a:rPr>
              <a:t>: Major </a:t>
            </a:r>
            <a:r>
              <a:rPr dirty="0" smtClean="0">
                <a:latin typeface="Monotype Corsiva" panose="03010101010201010101" pitchFamily="66" charset="0"/>
              </a:rPr>
              <a:t>breaches</a:t>
            </a:r>
            <a:endParaRPr lang="en-US" dirty="0" smtClean="0">
              <a:latin typeface="Monotype Corsiva" panose="03010101010201010101" pitchFamily="66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dirty="0">
              <a:latin typeface="Monotype Corsiva" panose="03010101010201010101" pitchFamily="66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>
                <a:latin typeface="Monotype Corsiva" panose="03010101010201010101" pitchFamily="66" charset="0"/>
              </a:rPr>
              <a:t> </a:t>
            </a:r>
            <a:r>
              <a:rPr dirty="0" smtClean="0">
                <a:latin typeface="Monotype Corsiva" panose="03010101010201010101" pitchFamily="66" charset="0"/>
              </a:rPr>
              <a:t>Prevention</a:t>
            </a:r>
            <a:r>
              <a:rPr dirty="0">
                <a:latin typeface="Monotype Corsiva" panose="03010101010201010101" pitchFamily="66" charset="0"/>
              </a:rPr>
              <a:t>: Patch management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Impact</a:t>
            </a:r>
            <a:r>
              <a:rPr dirty="0"/>
              <a:t> </a:t>
            </a:r>
            <a:r>
              <a:rPr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2493917"/>
            <a:ext cx="8229600" cy="4389120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 smtClean="0">
                <a:latin typeface="Monotype Corsiva" panose="03010101010201010101" pitchFamily="66" charset="0"/>
              </a:rPr>
              <a:t> </a:t>
            </a:r>
            <a:r>
              <a:rPr dirty="0" smtClean="0">
                <a:latin typeface="Monotype Corsiva" panose="03010101010201010101" pitchFamily="66" charset="0"/>
              </a:rPr>
              <a:t>Individuals</a:t>
            </a:r>
            <a:r>
              <a:rPr dirty="0">
                <a:latin typeface="Monotype Corsiva" panose="03010101010201010101" pitchFamily="66" charset="0"/>
              </a:rPr>
              <a:t>: Fraud, identity </a:t>
            </a:r>
            <a:r>
              <a:rPr dirty="0" smtClean="0">
                <a:latin typeface="Monotype Corsiva" panose="03010101010201010101" pitchFamily="66" charset="0"/>
              </a:rPr>
              <a:t>theft</a:t>
            </a:r>
            <a:endParaRPr lang="en-US" dirty="0" smtClean="0">
              <a:latin typeface="Monotype Corsiva" panose="03010101010201010101" pitchFamily="66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dirty="0">
              <a:latin typeface="Monotype Corsiva" panose="03010101010201010101" pitchFamily="66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>
                <a:latin typeface="Monotype Corsiva" panose="03010101010201010101" pitchFamily="66" charset="0"/>
              </a:rPr>
              <a:t> </a:t>
            </a:r>
            <a:r>
              <a:rPr dirty="0" smtClean="0">
                <a:latin typeface="Monotype Corsiva" panose="03010101010201010101" pitchFamily="66" charset="0"/>
              </a:rPr>
              <a:t>Organizations</a:t>
            </a:r>
            <a:r>
              <a:rPr dirty="0">
                <a:latin typeface="Monotype Corsiva" panose="03010101010201010101" pitchFamily="66" charset="0"/>
              </a:rPr>
              <a:t>: Data loss, reputation damage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Case</a:t>
            </a:r>
            <a:r>
              <a:rPr dirty="0"/>
              <a:t> </a:t>
            </a:r>
            <a:r>
              <a:rPr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Studies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7493" y="2468880"/>
            <a:ext cx="8229600" cy="4389120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 smtClean="0">
                <a:latin typeface="Monotype Corsiva" panose="03010101010201010101" pitchFamily="66" charset="0"/>
              </a:rPr>
              <a:t> </a:t>
            </a:r>
            <a:r>
              <a:rPr dirty="0" err="1" smtClean="0">
                <a:latin typeface="Monotype Corsiva" panose="03010101010201010101" pitchFamily="66" charset="0"/>
              </a:rPr>
              <a:t>WannaCry</a:t>
            </a:r>
            <a:r>
              <a:rPr dirty="0">
                <a:latin typeface="Monotype Corsiva" panose="03010101010201010101" pitchFamily="66" charset="0"/>
              </a:rPr>
              <a:t>, </a:t>
            </a:r>
            <a:r>
              <a:rPr dirty="0" err="1" smtClean="0">
                <a:latin typeface="Monotype Corsiva" panose="03010101010201010101" pitchFamily="66" charset="0"/>
              </a:rPr>
              <a:t>SolarWinds</a:t>
            </a:r>
            <a:endParaRPr lang="en-US" dirty="0" smtClean="0">
              <a:latin typeface="Monotype Corsiva" panose="03010101010201010101" pitchFamily="66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dirty="0">
              <a:latin typeface="Monotype Corsiva" panose="03010101010201010101" pitchFamily="66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>
                <a:latin typeface="Monotype Corsiva" panose="03010101010201010101" pitchFamily="66" charset="0"/>
              </a:rPr>
              <a:t> </a:t>
            </a:r>
            <a:r>
              <a:rPr dirty="0" smtClean="0">
                <a:latin typeface="Monotype Corsiva" panose="03010101010201010101" pitchFamily="66" charset="0"/>
              </a:rPr>
              <a:t>Capital </a:t>
            </a:r>
            <a:r>
              <a:rPr dirty="0">
                <a:latin typeface="Monotype Corsiva" panose="03010101010201010101" pitchFamily="66" charset="0"/>
              </a:rPr>
              <a:t>One, </a:t>
            </a:r>
            <a:r>
              <a:rPr dirty="0" err="1">
                <a:latin typeface="Monotype Corsiva" panose="03010101010201010101" pitchFamily="66" charset="0"/>
              </a:rPr>
              <a:t>Mirai</a:t>
            </a:r>
            <a:r>
              <a:rPr dirty="0">
                <a:latin typeface="Monotype Corsiva" panose="03010101010201010101" pitchFamily="66" charset="0"/>
              </a:rPr>
              <a:t>, </a:t>
            </a:r>
            <a:r>
              <a:rPr dirty="0" err="1">
                <a:latin typeface="Monotype Corsiva" panose="03010101010201010101" pitchFamily="66" charset="0"/>
              </a:rPr>
              <a:t>Stuxnet</a:t>
            </a:r>
            <a:endParaRPr dirty="0">
              <a:latin typeface="Monotype Corsiva" panose="03010101010201010101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Preventive</a:t>
            </a:r>
            <a:r>
              <a:rPr dirty="0"/>
              <a:t> </a:t>
            </a:r>
            <a:r>
              <a:rPr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Measures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61406" y="2375806"/>
            <a:ext cx="7225393" cy="3948793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 smtClean="0">
                <a:latin typeface="Monotype Corsiva" panose="03010101010201010101" pitchFamily="66" charset="0"/>
              </a:rPr>
              <a:t> </a:t>
            </a:r>
            <a:r>
              <a:rPr dirty="0" smtClean="0">
                <a:latin typeface="Monotype Corsiva" panose="03010101010201010101" pitchFamily="66" charset="0"/>
              </a:rPr>
              <a:t>MFA</a:t>
            </a:r>
            <a:r>
              <a:rPr dirty="0">
                <a:latin typeface="Monotype Corsiva" panose="03010101010201010101" pitchFamily="66" charset="0"/>
              </a:rPr>
              <a:t>, Zero </a:t>
            </a:r>
            <a:r>
              <a:rPr dirty="0" smtClean="0">
                <a:latin typeface="Monotype Corsiva" panose="03010101010201010101" pitchFamily="66" charset="0"/>
              </a:rPr>
              <a:t>Trust</a:t>
            </a:r>
            <a:endParaRPr lang="en-US" dirty="0" smtClean="0">
              <a:latin typeface="Monotype Corsiva" panose="03010101010201010101" pitchFamily="66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dirty="0">
              <a:latin typeface="Monotype Corsiva" panose="03010101010201010101" pitchFamily="66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>
                <a:latin typeface="Monotype Corsiva" panose="03010101010201010101" pitchFamily="66" charset="0"/>
              </a:rPr>
              <a:t> </a:t>
            </a:r>
            <a:r>
              <a:rPr dirty="0" smtClean="0">
                <a:latin typeface="Monotype Corsiva" panose="03010101010201010101" pitchFamily="66" charset="0"/>
              </a:rPr>
              <a:t>Firewalls</a:t>
            </a:r>
            <a:r>
              <a:rPr dirty="0">
                <a:latin typeface="Monotype Corsiva" panose="03010101010201010101" pitchFamily="66" charset="0"/>
              </a:rPr>
              <a:t>, </a:t>
            </a:r>
            <a:r>
              <a:rPr dirty="0" smtClean="0">
                <a:latin typeface="Monotype Corsiva" panose="03010101010201010101" pitchFamily="66" charset="0"/>
              </a:rPr>
              <a:t>IDS/IPS</a:t>
            </a:r>
            <a:endParaRPr lang="en-US" dirty="0" smtClean="0">
              <a:latin typeface="Monotype Corsiva" panose="03010101010201010101" pitchFamily="66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dirty="0">
              <a:latin typeface="Monotype Corsiva" panose="03010101010201010101" pitchFamily="66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>
                <a:latin typeface="Monotype Corsiva" panose="03010101010201010101" pitchFamily="66" charset="0"/>
              </a:rPr>
              <a:t> </a:t>
            </a:r>
            <a:r>
              <a:rPr dirty="0" smtClean="0">
                <a:latin typeface="Monotype Corsiva" panose="03010101010201010101" pitchFamily="66" charset="0"/>
              </a:rPr>
              <a:t>Training </a:t>
            </a:r>
            <a:r>
              <a:rPr dirty="0">
                <a:latin typeface="Monotype Corsiva" panose="03010101010201010101" pitchFamily="66" charset="0"/>
              </a:rPr>
              <a:t>&amp; backups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65464" y="2408464"/>
            <a:ext cx="7878536" cy="3842657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 </a:t>
            </a:r>
            <a:r>
              <a:rPr dirty="0" smtClean="0"/>
              <a:t>Cybersecurity </a:t>
            </a:r>
            <a:r>
              <a:rPr dirty="0"/>
              <a:t>is </a:t>
            </a:r>
            <a:r>
              <a:rPr dirty="0" smtClean="0"/>
              <a:t>essential</a:t>
            </a:r>
            <a:endParaRPr lang="en-US" dirty="0" smtClean="0"/>
          </a:p>
          <a:p>
            <a:pPr>
              <a:buFont typeface="Wingdings" panose="05000000000000000000" pitchFamily="2" charset="2"/>
              <a:buChar char="Ø"/>
            </a:pPr>
            <a:endParaRPr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 </a:t>
            </a:r>
            <a:r>
              <a:rPr dirty="0" smtClean="0"/>
              <a:t>Continuous </a:t>
            </a:r>
            <a:r>
              <a:rPr dirty="0"/>
              <a:t>learning </a:t>
            </a:r>
            <a:r>
              <a:rPr dirty="0" smtClean="0"/>
              <a:t>needed</a:t>
            </a:r>
            <a:endParaRPr lang="en-US" dirty="0" smtClean="0"/>
          </a:p>
          <a:p>
            <a:pPr>
              <a:buFont typeface="Wingdings" panose="05000000000000000000" pitchFamily="2" charset="2"/>
              <a:buChar char="Ø"/>
            </a:pPr>
            <a:endParaRPr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 </a:t>
            </a:r>
            <a:r>
              <a:rPr dirty="0" smtClean="0"/>
              <a:t>Future</a:t>
            </a:r>
            <a:r>
              <a:rPr dirty="0"/>
              <a:t>: AI-based security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96</TotalTime>
  <Words>180</Words>
  <Application>Microsoft Office PowerPoint</Application>
  <PresentationFormat>On-screen Show (4:3)</PresentationFormat>
  <Paragraphs>64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Flow</vt:lpstr>
      <vt:lpstr>Cybersecurity Threat Intelligence Report</vt:lpstr>
      <vt:lpstr>Introduction to Cybersecurity</vt:lpstr>
      <vt:lpstr>AI-Powered Phishing</vt:lpstr>
      <vt:lpstr>Ransomware-as-a-Service</vt:lpstr>
      <vt:lpstr>Cloud Misconfiguration</vt:lpstr>
      <vt:lpstr>LOT Vulnerabilities</vt:lpstr>
      <vt:lpstr>Zero-Day Exploits</vt:lpstr>
      <vt:lpstr>Impact Analysis</vt:lpstr>
      <vt:lpstr>Case Studies</vt:lpstr>
      <vt:lpstr>Preventive Measures</vt:lpstr>
      <vt:lpstr>Conclusion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Cybersecurity Threat Intelligence Report</dc:title>
  <dc:subject/>
  <dc:creator/>
  <cp:keywords/>
  <dc:description>generated using python-pptx</dc:description>
  <cp:lastModifiedBy>It World</cp:lastModifiedBy>
  <cp:revision>6</cp:revision>
  <dcterms:created xsi:type="dcterms:W3CDTF">2013-01-27T09:14:16Z</dcterms:created>
  <dcterms:modified xsi:type="dcterms:W3CDTF">2026-04-18T09:09:49Z</dcterms:modified>
  <cp:category/>
</cp:coreProperties>
</file>